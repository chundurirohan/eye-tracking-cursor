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2918400" cy="21945600"/>
  <p:notesSz cx="219456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32918400" cy="384048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731520" y="411480"/>
            <a:ext cx="3145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Gaze: Hands-Free Cursor Control from a Webcam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1920240"/>
            <a:ext cx="3145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on-screen accuracy of a calibrated, webcam-only eye tracker (Linux, Wayland port)</a:t>
            </a:r>
            <a:endParaRPr lang="en-US" sz="3000" dirty="0"/>
          </a:p>
        </p:txBody>
      </p:sp>
      <p:sp>
        <p:nvSpPr>
          <p:cNvPr id="5" name="Authors"/>
          <p:cNvSpPr txBox="1"/>
          <p:nvPr/>
        </p:nvSpPr>
        <p:spPr>
          <a:xfrm>
            <a:off x="731520" y="2834640"/>
            <a:ext cx="3145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 name(s)]  ·  ASDRP  ·  Research poster, due Oct 11</a:t>
            </a:r>
            <a:endParaRPr lang="en-US" sz="2600" dirty="0"/>
          </a:p>
        </p:txBody>
      </p:sp>
      <p:sp>
        <p:nvSpPr>
          <p:cNvPr id="6" name="Heading Abstract"/>
          <p:cNvSpPr txBox="1"/>
          <p:nvPr/>
        </p:nvSpPr>
        <p:spPr>
          <a:xfrm>
            <a:off x="731520" y="4572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40680"/>
            <a:ext cx="100584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tracking can give people with limited motor control a way to use a computer without their hands, but most systems need dedicated infrared hardware. Gaze estimates where a user is looking from an ordinary webcam, calibrates that signal to the screen, and drives the real system cursor. We built a Linux (Wayland) port and an accuracy test that logs each target's predicted position. Across 7 valid runs (83 targets) the mean error was 164 px (median 124 px) on a 1920×1080 display, and 70% of targets landed within 200 px.</a:t>
            </a:r>
            <a:endParaRPr lang="en-US" sz="2500" dirty="0"/>
          </a:p>
        </p:txBody>
      </p:sp>
      <p:sp>
        <p:nvSpPr>
          <p:cNvPr id="8" name="Heading Motivation"/>
          <p:cNvSpPr txBox="1"/>
          <p:nvPr/>
        </p:nvSpPr>
        <p:spPr>
          <a:xfrm>
            <a:off x="731520" y="10835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170432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gaze trackers are costly and tied to specific hardware. A webcam-only tool that runs locally keeps video on the device and works on the laptop a person already owns. The open question is whether its accuracy is good enough to hit real interface targets.</a:t>
            </a:r>
            <a:endParaRPr lang="en-US" sz="2500" dirty="0"/>
          </a:p>
        </p:txBody>
      </p:sp>
      <p:sp>
        <p:nvSpPr>
          <p:cNvPr id="10" name="Heading Methods"/>
          <p:cNvSpPr txBox="1"/>
          <p:nvPr/>
        </p:nvSpPr>
        <p:spPr>
          <a:xfrm>
            <a:off x="731520" y="149047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5773400"/>
            <a:ext cx="1005840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and iris landmarks from MediaPipe FaceLandmarker (Lugaresi et al., 2019), with head pose.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One-Euro smoothing of the gaze signal.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Calibration: a 5×5 grid, a dwell window per point, then smooth-pursuit passes. A ridge regression maps eye features to screen position.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test: 12 shuffled targets per pass, 600 ms settling time per target, mean predicted position logged against the target.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control: macOS CoreGraphics, Linux X11 XTest, and Wayland RemoteDesktop portal (libei).</a:t>
            </a:r>
            <a:endParaRPr lang="en-US" sz="2400" dirty="0"/>
          </a:p>
        </p:txBody>
      </p:sp>
      <p:sp>
        <p:nvSpPr>
          <p:cNvPr id="12" name="Heading Results"/>
          <p:cNvSpPr txBox="1"/>
          <p:nvPr/>
        </p:nvSpPr>
        <p:spPr>
          <a:xfrm>
            <a:off x="11338560" y="4572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600" dirty="0"/>
          </a:p>
        </p:txBody>
      </p:sp>
      <p:pic>
        <p:nvPicPr>
          <p:cNvPr id="13" name="Image 0" descr="Figure 1. Predicted gaze position for each target (+), all valid runs. Lines join each prediction to its targe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0" y="5440680"/>
            <a:ext cx="9144000" cy="623550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95760" y="11749341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Predicted gaze position for each target (+), all valid runs. Lines join each prediction to its target.</a:t>
            </a:r>
            <a:endParaRPr lang="en-US" sz="1600" dirty="0"/>
          </a:p>
        </p:txBody>
      </p:sp>
      <p:sp>
        <p:nvSpPr>
          <p:cNvPr id="15" name="Stat card mean error"/>
          <p:cNvSpPr/>
          <p:nvPr/>
        </p:nvSpPr>
        <p:spPr>
          <a:xfrm>
            <a:off x="11338560" y="12453429"/>
            <a:ext cx="3108960" cy="160020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338560" y="12590589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 px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13459269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error</a:t>
            </a:r>
            <a:endParaRPr lang="en-US" sz="2000" dirty="0"/>
          </a:p>
        </p:txBody>
      </p:sp>
      <p:sp>
        <p:nvSpPr>
          <p:cNvPr id="18" name="Stat card median error"/>
          <p:cNvSpPr/>
          <p:nvPr/>
        </p:nvSpPr>
        <p:spPr>
          <a:xfrm>
            <a:off x="14813280" y="12453429"/>
            <a:ext cx="3108960" cy="160020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4813280" y="12590589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 px</a:t>
            </a:r>
            <a:endParaRPr lang="en-US" sz="40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0" y="13459269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</a:t>
            </a:r>
            <a:endParaRPr lang="en-US" sz="2000" dirty="0"/>
          </a:p>
        </p:txBody>
      </p:sp>
      <p:sp>
        <p:nvSpPr>
          <p:cNvPr id="21" name="Stat card within 200 px"/>
          <p:cNvSpPr/>
          <p:nvPr/>
        </p:nvSpPr>
        <p:spPr>
          <a:xfrm>
            <a:off x="18288000" y="12453429"/>
            <a:ext cx="3108960" cy="160020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8288000" y="12590589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000" dirty="0"/>
          </a:p>
        </p:txBody>
      </p:sp>
      <p:sp>
        <p:nvSpPr>
          <p:cNvPr id="23" name="Text 20"/>
          <p:cNvSpPr txBox="1"/>
          <p:nvPr/>
        </p:nvSpPr>
        <p:spPr>
          <a:xfrm>
            <a:off x="18288000" y="13459269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200 px</a:t>
            </a:r>
            <a:endParaRPr lang="en-US" sz="2000" dirty="0"/>
          </a:p>
        </p:txBody>
      </p:sp>
      <p:pic>
        <p:nvPicPr>
          <p:cNvPr id="24" name="Image 1" descr="Figure 2. Cumulative distribution of error. Dashed lines mark 100 px and 200 px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0" y="14327949"/>
            <a:ext cx="6217920" cy="479668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258800" y="19197782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Cumulative distribution of error. Dashed lines mark 100 px and 200 px.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11338560" y="1994759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83 targets, 7 runs.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runs were excluded: one aborted after 2 points, one never held calibration (predictions stayed near x = 0.43).</a:t>
            </a:r>
            <a:endParaRPr lang="en-US" sz="1800" dirty="0"/>
          </a:p>
        </p:txBody>
      </p:sp>
      <p:sp>
        <p:nvSpPr>
          <p:cNvPr id="27" name="Heading Where the error is"/>
          <p:cNvSpPr txBox="1"/>
          <p:nvPr/>
        </p:nvSpPr>
        <p:spPr>
          <a:xfrm>
            <a:off x="21945600" y="45720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error is</a:t>
            </a:r>
            <a:endParaRPr lang="en-US" sz="3600" dirty="0"/>
          </a:p>
        </p:txBody>
      </p:sp>
      <p:pic>
        <p:nvPicPr>
          <p:cNvPr id="28" name="Image 2" descr="Figure 3. Mean error (px) by screen region. The left column is worst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0" y="5440680"/>
            <a:ext cx="6949440" cy="435212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3500080" y="9865956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Mean error (px) by screen region. The left column is worst.</a:t>
            </a:r>
            <a:endParaRPr lang="en-US" sz="1600" dirty="0"/>
          </a:p>
        </p:txBody>
      </p:sp>
      <p:pic>
        <p:nvPicPr>
          <p:cNvPr id="30" name="Image 3" descr="Figure 4. Per-run error. Orange: earlier build; blue: Linux build. Run-to-run spread is large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0" y="10615764"/>
            <a:ext cx="8778240" cy="4720471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22585680" y="15409387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Per-run error. Orange: earlier build; blue: Linux build. Run-to-run spread is large.</a:t>
            </a:r>
            <a:endParaRPr lang="en-US" sz="1600" dirty="0"/>
          </a:p>
        </p:txBody>
      </p:sp>
      <p:sp>
        <p:nvSpPr>
          <p:cNvPr id="32" name="Heading Discussion and limitations"/>
          <p:cNvSpPr txBox="1"/>
          <p:nvPr/>
        </p:nvSpPr>
        <p:spPr>
          <a:xfrm>
            <a:off x="21945600" y="16159195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and limitations</a:t>
            </a:r>
            <a:endParaRPr lang="en-US" sz="3600" dirty="0"/>
          </a:p>
        </p:txBody>
      </p:sp>
      <p:sp>
        <p:nvSpPr>
          <p:cNvPr id="33" name="Text 27"/>
          <p:cNvSpPr txBox="1"/>
          <p:nvPr/>
        </p:nvSpPr>
        <p:spPr>
          <a:xfrm>
            <a:off x="21945600" y="17027875"/>
            <a:ext cx="10058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was 100–250 px across most of the screen: enough for large controls, not small ones.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earlier and Linux builds do not differ beyond run-to-run spread (mean 143 vs 180 px).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Left-edge targets averaged 211–246 px; centre columns 98–136 px.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runs, one participant, one display: results are descriptive. Viewing distance was not recorded, so no visual angle.</a:t>
            </a:r>
            <a:endParaRPr lang="en-US" sz="2000" dirty="0"/>
          </a:p>
        </p:txBody>
      </p:sp>
      <p:sp>
        <p:nvSpPr>
          <p:cNvPr id="34" name="Text 28"/>
          <p:cNvSpPr txBox="1"/>
          <p:nvPr/>
        </p:nvSpPr>
        <p:spPr>
          <a:xfrm>
            <a:off x="731520" y="21214080"/>
            <a:ext cx="3145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Lugaresi, C. et al. (2019). MediaPipe: A Framework for Building Perception Pipelines. arXiv:1906.08172.  Code and data: the Gaze repository (analysis/).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ze Poster">
  <a:themeElements>
    <a:clrScheme name="Gaze Poster">
      <a:dk1>
        <a:srgbClr val="1B1B1B"/>
      </a:dk1>
      <a:lt1>
        <a:srgbClr val="FFFFFF"/>
      </a:lt1>
      <a:dk2>
        <a:srgbClr val="14213D"/>
      </a:dk2>
      <a:lt2>
        <a:srgbClr val="EEF3FA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6250D6"/>
      </a:accent6>
      <a:hlink>
        <a:srgbClr val="2A78D6"/>
      </a:hlink>
      <a:folHlink>
        <a:srgbClr val="52514E"/>
      </a:folHlink>
    </a:clrScheme>
    <a:fontScheme name="Gaze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Gaze: Webcam Eye Tracking for Hands-Free Cursor Control</dc:title>
  <dc:subject>PptxGenJS Presentation</dc:subject>
  <dc:creator>PptxGenJS</dc:creator>
  <cp:lastModifiedBy>PptxGenJS</cp:lastModifiedBy>
  <cp:revision>1</cp:revision>
  <dcterms:created xsi:type="dcterms:W3CDTF">2026-10-10T22:05:10Z</dcterms:created>
  <dcterms:modified xsi:type="dcterms:W3CDTF">2026-10-10T22:05:10Z</dcterms:modified>
</cp:coreProperties>
</file>